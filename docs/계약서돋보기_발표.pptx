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이름 그대로다. 돋보기는 크게 보여줄 뿐 판단하지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계약서를 받으면 조항이 서른 개다. 법을 모르면 어디를 봐야 할지조차 모른다. 필요한 건 판정이 아니라 어디를 볼지에 대한 실마리다.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가지 이유다. 법적으로 변호사법 제109조가 비변호사의 법률사무를 금지한다. 실질적으로 틀렸을 때 책임질 수 없다. 여기가 이 발표 전체의 전제이고 뒤의 모든 결정이 여기서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화면에 빨간색이 없다. 경고 아이콘도 없다. 의도적이다. 시각 언어가 텍스트보다 강해서, 고지에 판정하지 않는다고 아무리 써도 화면이 빨개지면 사용자는 판정으로 받아들인다.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전부 법제처 API로 직접 수집했다. 수집하면서 API의 조문 필터를 믿으면 안 된다는 걸 알았다.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LangGraph로 조항별 fan-out. 임베딩 모델은 실측으로 골랐다. ko-sroberta가 e5보다 관련·무관 간격이 14배 넓었다.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끝냈다면 정확도 97.9%라고 발표했을 것이다. (잠깐 멈춘다)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세트가 전부 표준약관이었다. 표준약관은 공정거래위원회 심사를 거친 문서라 애초에 깨끗하다. 실사용은 그런 문서가 아니다. 이 세트를 만들지 않았다면 몰랐을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것이 특히 그렇다. 규칙을 만든 데이터에서만 좋아졌다. 독립 세트로 검증하지 않았다면 개선했다고 발표했을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확신도를 표시하려면 그 확신에 근거가 있어야 하는데 없었다. 그래서 등급을 없애고 순위만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둘을 나눠서 봐야 한다. 찾는 일은 되고 걸러내는 일은 안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셋 다 로컬 테스트로는 못 찾았다. 실제 약관을 넣어보고서야 알았다.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줄이 이 프로젝트의 결론이다.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직전에 git rev-list --count HEAD 로 커밋 수를 다시 확인할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2C3A47"/>
          </a:solidFill>
          <a:ln w="9525">
            <a:solidFill>
              <a:srgbClr val="3D4C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366760" y="1417320"/>
            <a:ext cx="3063240" cy="3063240"/>
          </a:xfrm>
          <a:prstGeom prst="ellipse">
            <a:avLst/>
          </a:prstGeom>
          <a:ln w="19050">
            <a:solidFill>
              <a:srgbClr val="3D4C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938528"/>
            <a:ext cx="2011680" cy="2011680"/>
          </a:xfrm>
          <a:prstGeom prst="ellipse">
            <a:avLst/>
          </a:prstGeom>
          <a:ln w="28575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87968" y="1938528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C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 돋보기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5292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Contract Lens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9300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조항에 관련 법 조문을 나란히 놓습니다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4406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동아AI랩 3기 3차 프로젝트   ·   최지수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계약서를 받으면 조항이 서른 개다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법을 모르면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어디를 봐야 할지조차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모른다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4160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C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건 “이 계약 불공정합니다” 같은 판정이 아니라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526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어디를 볼지에 대한 실마리다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5148072" cy="3520440"/>
          </a:xfrm>
          <a:prstGeom prst="roundRect">
            <a:avLst>
              <a:gd name="adj" fmla="val 1558"/>
            </a:avLst>
          </a:prstGeom>
          <a:solidFill>
            <a:srgbClr val="FAFAFB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93408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제1조 (목적)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13648" y="2130552"/>
            <a:ext cx="1644091" cy="68580"/>
          </a:xfrm>
          <a:prstGeom prst="rect">
            <a:avLst/>
          </a:prstGeom>
          <a:solidFill>
            <a:srgbClr val="CFD6D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93408" y="2414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제2조 (정의)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13648" y="2514600"/>
            <a:ext cx="2280514" cy="68580"/>
          </a:xfrm>
          <a:prstGeom prst="rect">
            <a:avLst/>
          </a:prstGeom>
          <a:solidFill>
            <a:srgbClr val="CFD6D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93408" y="2798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제3조 (면책)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13648" y="2898648"/>
            <a:ext cx="2492654" cy="68580"/>
          </a:xfrm>
          <a:prstGeom prst="rect">
            <a:avLst/>
          </a:prstGeom>
          <a:solidFill>
            <a:srgbClr val="CFD6D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3408" y="3182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제4조 (서비스 제공)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13648" y="3282696"/>
            <a:ext cx="2068373" cy="68580"/>
          </a:xfrm>
          <a:prstGeom prst="rect">
            <a:avLst/>
          </a:prstGeom>
          <a:solidFill>
            <a:srgbClr val="CFD6D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93408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 (이용 제한)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13648" y="3666744"/>
            <a:ext cx="2386584" cy="68580"/>
          </a:xfrm>
          <a:prstGeom prst="rect">
            <a:avLst/>
          </a:prstGeom>
          <a:solidFill>
            <a:srgbClr val="CFD6D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93408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제6조 (손해배상)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13648" y="4050792"/>
            <a:ext cx="1909267" cy="68580"/>
          </a:xfrm>
          <a:prstGeom prst="rect">
            <a:avLst/>
          </a:prstGeom>
          <a:solidFill>
            <a:srgbClr val="CFD6D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93408" y="4334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제7조 (계약 해지)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13648" y="4434840"/>
            <a:ext cx="2333549" cy="68580"/>
          </a:xfrm>
          <a:prstGeom prst="rect">
            <a:avLst/>
          </a:prstGeom>
          <a:solidFill>
            <a:srgbClr val="CFD6D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93408" y="4718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제8조 (관할 법원)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13648" y="4818888"/>
            <a:ext cx="1750162" cy="68580"/>
          </a:xfrm>
          <a:prstGeom prst="rect">
            <a:avLst/>
          </a:prstGeom>
          <a:solidFill>
            <a:srgbClr val="CFD6DD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하지 않기로 한 것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8483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116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불공정 여부를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판정하지 않습니다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52544" y="1783080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2584" y="208483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72584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75504" y="20116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무효인지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말하지 않습니다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65008" y="1783080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5048" y="208483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85048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887968" y="20116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점수나 등급을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매기지 않습니다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03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법적으로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변호사법 제109조가 비변호사의 법률사무를 금지한다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361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실질적으로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43616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틀렸을 때 책임질 수 없다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5138928"/>
            <a:ext cx="10911535" cy="960120"/>
          </a:xfrm>
          <a:prstGeom prst="roundRect">
            <a:avLst>
              <a:gd name="adj" fmla="val 5714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5138928"/>
            <a:ext cx="10271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5C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우선순위    ①  정확성과 신뢰성     ②  틀렸을 때 피해를 통제하는 구조     ③  수익모델     ④  기술 난도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화면으로 보여드립니다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766560" cy="3566160"/>
          </a:xfrm>
          <a:prstGeom prst="roundRect">
            <a:avLst>
              <a:gd name="adj" fmla="val 1538"/>
            </a:avLst>
          </a:prstGeom>
          <a:solidFill>
            <a:srgbClr val="FAFAFB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계약서 조항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011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있을 수 있는 법 조문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395728"/>
            <a:ext cx="30175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2395728"/>
            <a:ext cx="30175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2505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제3조 (면책)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7797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“어떠한 손해에도 책임지지 아니한다”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505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  약관규제법 제7조 (면책조항의 금지)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7797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2순위 · 3순위 …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3364992"/>
            <a:ext cx="30175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3364992"/>
            <a:ext cx="30175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3474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 (해지)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7490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“회사는 사전 통지 없이 해지할 수 있다”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3474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  약관규제법 제9조 (계약의 해제·해지)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37490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2순위 · 3순위 …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4334256"/>
            <a:ext cx="30175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4334256"/>
            <a:ext cx="30175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97280" y="4443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제1조 (목적)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7183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약관은 이용조건을 정함을 목적으로 한다”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389120" y="4443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대조하지 않음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47183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약관에나 있는 조항이라 건너뜁니다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635240" y="1929384"/>
            <a:ext cx="274320" cy="274320"/>
          </a:xfrm>
          <a:prstGeom prst="ellipse">
            <a:avLst/>
          </a:prstGeom>
          <a:solidFill>
            <a:srgbClr val="F4F5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635240" y="1929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028432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원문과 조문을 좌우로 나란히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028432" y="22219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가리지 않고 그대로 보여준다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35240" y="2825496"/>
            <a:ext cx="274320" cy="274320"/>
          </a:xfrm>
          <a:prstGeom prst="ellipse">
            <a:avLst/>
          </a:prstGeom>
          <a:solidFill>
            <a:srgbClr val="F4F5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635240" y="2825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028432" y="2770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후보를 누르면 조문 원문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028432" y="31181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호 · 효력 · 쉬운 안내 · 용어 풀이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35240" y="3721608"/>
            <a:ext cx="274320" cy="274320"/>
          </a:xfrm>
          <a:prstGeom prst="ellipse">
            <a:avLst/>
          </a:prstGeom>
          <a:solidFill>
            <a:srgbClr val="F4F5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635240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028432" y="36667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건너뛴 조항도 이유를 밝힌다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028432" y="40142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조용히 버리지 않는다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635240" y="4617720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63524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028432" y="45628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빨간색도 경고 아이콘도 없다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028432" y="49103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의도적으로 뺐다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전부 직접 수집했다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법제처 국가법령정보 공동활용 API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8483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71216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약관규제법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불공정 유형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1874520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10712" y="208483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조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2871216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전문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 문장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1874520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81344" y="208483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181344" y="2871216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51976" y="1874520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51976" y="208483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8951976" y="2871216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표준약관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02336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수집하면서 배운 것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4498848"/>
            <a:ext cx="10911535" cy="1417320"/>
          </a:xfrm>
          <a:prstGeom prst="roundRect">
            <a:avLst>
              <a:gd name="adj" fmla="val 3871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4681728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의 조문 필터를 믿으면 안 된다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5C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JO=제7조 로 받은 판례 229건의 실제 참조조문에 제7조가 없었다. 그래서 본문을 직접 파싱하는 방식으로 바꿨다.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로 조항별 fan-out — 조항끼리 의존이 없으니 갈라서 처리한다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659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전문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96596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C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52928" y="196596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52928" y="19659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문단 병합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조항 분리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773168" y="196596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C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65776" y="196596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65776" y="19659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 조항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건너뛰기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986016" y="196596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C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278624" y="196596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78624" y="19659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매칭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198864" y="196596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C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491472" y="196596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91472" y="19659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관련도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 1·2·3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401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모델은 실측으로 골랐다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" y="3913632"/>
            <a:ext cx="7772400" cy="749808"/>
          </a:xfrm>
          <a:prstGeom prst="roundRect">
            <a:avLst>
              <a:gd name="adj" fmla="val 7317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391363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ko-sroberta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383280" y="4224528"/>
            <a:ext cx="3291840" cy="12801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0" y="3913632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0.2613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809744"/>
            <a:ext cx="7772400" cy="749808"/>
          </a:xfrm>
          <a:prstGeom prst="roundRect">
            <a:avLst>
              <a:gd name="adj" fmla="val 731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" y="480974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e5-small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383280" y="5120640"/>
            <a:ext cx="237744" cy="128016"/>
          </a:xfrm>
          <a:prstGeom prst="rect">
            <a:avLst/>
          </a:prstGeom>
          <a:solidFill>
            <a:srgbClr val="C3CAD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0" y="4809744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0.0186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391363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관련·무관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간격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0" y="3913632"/>
            <a:ext cx="14904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배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성능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표준약관 85개 기준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703320" cy="2148840"/>
          </a:xfrm>
          <a:prstGeom prst="roundRect">
            <a:avLst>
              <a:gd name="adj" fmla="val 2553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6771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70048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94.5%</a:t>
            </a:r>
            <a:endParaRPr lang="en-US" sz="6200" dirty="0"/>
          </a:p>
        </p:txBody>
      </p:sp>
      <p:sp>
        <p:nvSpPr>
          <p:cNvPr id="9" name="Shape 7"/>
          <p:cNvSpPr/>
          <p:nvPr/>
        </p:nvSpPr>
        <p:spPr>
          <a:xfrm>
            <a:off x="4663440" y="2011680"/>
            <a:ext cx="3703320" cy="2148840"/>
          </a:xfrm>
          <a:prstGeom prst="roundRect">
            <a:avLst>
              <a:gd name="adj" fmla="val 2553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26771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‘높음’ 정확도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670048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97.9%</a:t>
            </a:r>
            <a:endParaRPr lang="en-US" sz="6200" dirty="0"/>
          </a:p>
        </p:txBody>
      </p:sp>
      <p:sp>
        <p:nvSpPr>
          <p:cNvPr id="12" name="Shape 10"/>
          <p:cNvSpPr/>
          <p:nvPr/>
        </p:nvSpPr>
        <p:spPr>
          <a:xfrm>
            <a:off x="8887968" y="2487168"/>
            <a:ext cx="1188720" cy="1188720"/>
          </a:xfrm>
          <a:prstGeom prst="ellipse">
            <a:avLst/>
          </a:prstGeom>
          <a:solidFill>
            <a:srgbClr val="F4F5F7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49640" y="2487168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여기까지가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보통의 발표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6177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끝냈다면 “정확도 97.9%”라고 발표했을 것이다.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2C3A47"/>
          </a:solidFill>
          <a:ln w="9525">
            <a:solidFill>
              <a:srgbClr val="3D4C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세트가 전부 표준약관이었다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911535" cy="1207008"/>
          </a:xfrm>
          <a:prstGeom prst="roundRect">
            <a:avLst>
              <a:gd name="adj" fmla="val 4545"/>
            </a:avLst>
          </a:prstGeom>
          <a:solidFill>
            <a:srgbClr val="2C3A47"/>
          </a:solidFill>
          <a:ln w="12700">
            <a:solidFill>
              <a:srgbClr val="3D4C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2585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표준약관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6791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공정거래위원회 심사를 거친 문서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057400"/>
            <a:ext cx="34747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8A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97.9%</a:t>
            </a:r>
            <a:endParaRPr lang="en-US" sz="5000" dirty="0"/>
          </a:p>
        </p:txBody>
      </p:sp>
      <p:sp>
        <p:nvSpPr>
          <p:cNvPr id="10" name="Shape 8"/>
          <p:cNvSpPr/>
          <p:nvPr/>
        </p:nvSpPr>
        <p:spPr>
          <a:xfrm>
            <a:off x="640080" y="3474720"/>
            <a:ext cx="10911535" cy="1207008"/>
          </a:xfrm>
          <a:prstGeom prst="roundRect">
            <a:avLst>
              <a:gd name="adj" fmla="val 4545"/>
            </a:avLst>
          </a:prstGeom>
          <a:solidFill>
            <a:srgbClr val="3A2E1F"/>
          </a:solidFill>
          <a:ln w="12700">
            <a:solidFill>
              <a:srgbClr val="6B4C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6758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사설 약관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09651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판례에서 분쟁이 된 문서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474720"/>
            <a:ext cx="34747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25%</a:t>
            </a:r>
            <a:endParaRPr lang="en-US" sz="5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1206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CBD5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판례에 인용된 실제 사설 약관 조항 49개로 평가 세트를 새로 만들고 직접 라벨링했다.</a:t>
            </a:r>
            <a:endParaRPr lang="en-US" sz="15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CBD5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세트를 만들지 않았다면 몰랐을 것이다.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고치려 한 네 갈래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실패했다. 조정의 문제가 아니라 방법의 한계다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38528"/>
            <a:ext cx="10911535" cy="713232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13055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93852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조문 오염 제거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938528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26.3% → 31.2%. 필요했지만 원인이 아니었다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98064"/>
            <a:ext cx="10911535" cy="713232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299008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79806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분포의 모양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798064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관련있음과 관련없음이 통계적으로 같다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0911535" cy="713232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384962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65760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관련성 게이트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657600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50%까지 올렸으나 관련 조항 8개 중 6개를 잃는다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517136"/>
            <a:ext cx="10911535" cy="713232"/>
          </a:xfrm>
          <a:prstGeom prst="roundRect">
            <a:avLst>
              <a:gd name="adj" fmla="val 7692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" y="4709160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451713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조문별 신뢰도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4517136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C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에서 90.9% 로 좋아졌으나 v3 에서 22.7%. 과적합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4864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세트로 검증하지 않았다면 “개선했다”고 발표했을 것이다.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기능을 뺐다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498080" cy="960120"/>
          </a:xfrm>
          <a:prstGeom prst="roundRect">
            <a:avLst>
              <a:gd name="adj" fmla="val 5714"/>
            </a:avLst>
          </a:prstGeom>
          <a:solidFill>
            <a:srgbClr val="F7F7F8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87452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7452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높음 ]  약관규제법 제7조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7498080" cy="960120"/>
          </a:xfrm>
          <a:prstGeom prst="roundRect">
            <a:avLst>
              <a:gd name="adj" fmla="val 5714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01752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301752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    약관규제법 제7조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458200" y="1874520"/>
            <a:ext cx="3090672" cy="2057400"/>
          </a:xfrm>
          <a:prstGeom prst="roundRect">
            <a:avLst>
              <a:gd name="adj" fmla="val 2667"/>
            </a:avLst>
          </a:prstGeom>
          <a:solidFill>
            <a:srgbClr val="FAFAFB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32520" y="1874520"/>
            <a:ext cx="25420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‘높음’이라 써놓고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맞을 확률이 25% 면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표시는 사용자를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속이는 것이다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2245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고지에 실측 정확도를 그대로 적었다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681728"/>
            <a:ext cx="10911535" cy="777240"/>
          </a:xfrm>
          <a:prstGeom prst="roundRect">
            <a:avLst>
              <a:gd name="adj" fmla="val 7059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468172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1순위가 정답이라는 뜻이 아닙니다  (실측: 1순위 41.7%, 3개 안에 75.0%)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6235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후퇴가 아니라 “판정하지 않는다”는 원칙을 확신도 표시에까지 적용한 것이다.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성능과 한계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찾는 일은 되고, 걸러내는 일은 안 된다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66944" cy="1920240"/>
          </a:xfrm>
          <a:prstGeom prst="roundRect">
            <a:avLst>
              <a:gd name="adj" fmla="val 2857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03120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 매기기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87168"/>
            <a:ext cx="4535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Top-3  75.0%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18688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계약서에서도 쓸 만하다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81928" y="1874520"/>
            <a:ext cx="5266944" cy="1920240"/>
          </a:xfrm>
          <a:prstGeom prst="roundRect">
            <a:avLst>
              <a:gd name="adj" fmla="val 2857"/>
            </a:avLst>
          </a:prstGeom>
          <a:solidFill>
            <a:srgbClr val="FAF6F0"/>
          </a:solidFill>
          <a:ln w="9525">
            <a:solidFill>
              <a:srgbClr val="E4D5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2103120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판별력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2487168"/>
            <a:ext cx="4535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27.0%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218688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없는 조항에도 후보가 붙는다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04164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한계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94944" y="4663440"/>
            <a:ext cx="118872" cy="118872"/>
          </a:xfrm>
          <a:prstGeom prst="ellipse">
            <a:avLst/>
          </a:prstGeom>
          <a:solidFill>
            <a:srgbClr val="B8C0C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4128" y="4526280"/>
            <a:ext cx="105274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표본이 작다 (41~85개). 그래서 수치에 신뢰구간을 함께 적었다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4944" y="5138928"/>
            <a:ext cx="118872" cy="118872"/>
          </a:xfrm>
          <a:prstGeom prst="ellipse">
            <a:avLst/>
          </a:prstGeom>
          <a:solidFill>
            <a:srgbClr val="B8C0C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24128" y="5001768"/>
            <a:ext cx="105274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제7~14조만 다루는데 실제 분쟁은 제3·5·6조에서 더 많이 일어난다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4944" y="5614416"/>
            <a:ext cx="118872" cy="118872"/>
          </a:xfrm>
          <a:prstGeom prst="ellipse">
            <a:avLst/>
          </a:prstGeom>
          <a:solidFill>
            <a:srgbClr val="B8C0C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24128" y="5477256"/>
            <a:ext cx="105274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배포를 못 했다 — 카드 없이 649MB 를 무료로 주는 곳이 없었다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써보고서야 안 것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다 로컬 테스트로는 못 찾았다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67712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267712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조항이 0개로 나온다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2267712"/>
            <a:ext cx="320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2267712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제목과 본문이 다른 줄에 있는 형식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3200400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조문이 세로로 눌린다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3200400"/>
            <a:ext cx="320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3200400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좁은 칸에 넣어 한 글자씩 줄바꿈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133088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133088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 조항이 1순위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4133088"/>
            <a:ext cx="320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413308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약관에나 있고 늘 비슷하게 쓰인다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138928"/>
            <a:ext cx="10911535" cy="914400"/>
          </a:xfrm>
          <a:prstGeom prst="roundRect">
            <a:avLst>
              <a:gd name="adj" fmla="val 6000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5138928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것마다 회귀 테스트를 남겨서 다시 깨지면 잡히게 했다.   (테스트 10개)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11535" cy="749808"/>
          </a:xfrm>
          <a:prstGeom prst="roundRect">
            <a:avLst>
              <a:gd name="adj" fmla="val 731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6654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874520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대상을 잘못 고르면 아무리 정교하게 재도 소용없다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10911535" cy="749808"/>
          </a:xfrm>
          <a:prstGeom prst="roundRect">
            <a:avLst>
              <a:gd name="adj" fmla="val 731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96265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770632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표본으로 잰 수치는 실사용을 대표하지 않는다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10911535" cy="749808"/>
          </a:xfrm>
          <a:prstGeom prst="roundRect">
            <a:avLst>
              <a:gd name="adj" fmla="val 731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85876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666744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조건은 실제 사용 조건과 같아야 한다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562856"/>
            <a:ext cx="10911535" cy="749808"/>
          </a:xfrm>
          <a:prstGeom prst="roundRect">
            <a:avLst>
              <a:gd name="adj" fmla="val 7317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754880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4562856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성능을 못 올리면 약속을 바꾼다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5778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확신도를 표시할 근거가 없으면 표시를 없애는 것이 사용자에게 정직하다.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2C3A47"/>
          </a:solidFill>
          <a:ln w="9525">
            <a:solidFill>
              <a:srgbClr val="3D4C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86800" y="1737360"/>
            <a:ext cx="2651760" cy="2651760"/>
          </a:xfrm>
          <a:prstGeom prst="ellipse">
            <a:avLst/>
          </a:prstGeom>
          <a:ln w="19050">
            <a:solidFill>
              <a:srgbClr val="3D4C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194560"/>
            <a:ext cx="1737360" cy="1737360"/>
          </a:xfrm>
          <a:prstGeom prst="ellipse">
            <a:avLst/>
          </a:prstGeom>
          <a:ln w="28575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 돋보기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71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돋보기는 크게 보여줄 뿐 판단하지 않습니다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51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800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파일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4251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4,370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4800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4251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4800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4251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4800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7607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 · 법제처 국가법령정보 공동활용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계약서 돋보기 (Contract Lens)</dc:title>
  <dc:subject>PptxGenJS Presentation</dc:subject>
  <dc:creator>최지수</dc:creator>
  <cp:lastModifiedBy>최지수</cp:lastModifiedBy>
  <cp:revision>1</cp:revision>
  <dcterms:created xsi:type="dcterms:W3CDTF">2026-09-04T08:31:02Z</dcterms:created>
  <dcterms:modified xsi:type="dcterms:W3CDTF">2026-09-04T08:31:02Z</dcterms:modified>
</cp:coreProperties>
</file>